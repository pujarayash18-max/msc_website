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89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0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 •   FLIPPED CLASSROOM ACTIVITY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Intelligence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Industry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AI Architecture  +  Real-World Use Cases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E7F5EE"/>
          </a:solidFill>
          <a:ln w="12700">
            <a:solidFill>
              <a:srgbClr val="1E8E5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87552" y="38862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8E5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32511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60120" y="4764024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91256" y="4411980"/>
            <a:ext cx="18288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3374136" y="434797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3" name="Shape 11"/>
          <p:cNvSpPr/>
          <p:nvPr/>
        </p:nvSpPr>
        <p:spPr>
          <a:xfrm>
            <a:off x="3538728" y="370332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EAF2FD"/>
          </a:solidFill>
          <a:ln w="12700">
            <a:solidFill>
              <a:srgbClr val="0B5FBF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03320" y="38862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BF"/>
          </a:solidFill>
          <a:ln/>
        </p:spPr>
      </p:sp>
      <p:sp>
        <p:nvSpPr>
          <p:cNvPr id="15" name="Text 13"/>
          <p:cNvSpPr/>
          <p:nvPr/>
        </p:nvSpPr>
        <p:spPr>
          <a:xfrm>
            <a:off x="3675888" y="432511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5888" y="4764024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&amp; predict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07024" y="4411980"/>
            <a:ext cx="18288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6089904" y="434797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9" name="Shape 17"/>
          <p:cNvSpPr/>
          <p:nvPr/>
        </p:nvSpPr>
        <p:spPr>
          <a:xfrm>
            <a:off x="6254496" y="370332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F0ECFA"/>
          </a:solidFill>
          <a:ln w="12700">
            <a:solidFill>
              <a:srgbClr val="6B4FBB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19088" y="38862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B4FBB"/>
          </a:solidFill>
          <a:ln/>
        </p:spPr>
      </p:sp>
      <p:sp>
        <p:nvSpPr>
          <p:cNvPr id="21" name="Text 19"/>
          <p:cNvSpPr/>
          <p:nvPr/>
        </p:nvSpPr>
        <p:spPr>
          <a:xfrm>
            <a:off x="6391656" y="432511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391656" y="4764024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22792" y="4411980"/>
            <a:ext cx="18288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5400000">
            <a:off x="8805672" y="434797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25" name="Shape 23"/>
          <p:cNvSpPr/>
          <p:nvPr/>
        </p:nvSpPr>
        <p:spPr>
          <a:xfrm>
            <a:off x="8970264" y="370332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FBF0E1"/>
          </a:solidFill>
          <a:ln w="12700">
            <a:solidFill>
              <a:srgbClr val="C97A1E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34856" y="38862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97A1E"/>
          </a:solidFill>
          <a:ln/>
        </p:spPr>
      </p:sp>
      <p:sp>
        <p:nvSpPr>
          <p:cNvPr id="27" name="Text 25"/>
          <p:cNvSpPr/>
          <p:nvPr/>
        </p:nvSpPr>
        <p:spPr>
          <a:xfrm>
            <a:off x="9107424" y="432511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107424" y="4764024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56235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Marwadi University   |   Department of Computer Engineering   |   Semester 5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" dur="500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" dur="600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4" dur="500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1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6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8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5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9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presetID="22" presetClass="entr" presetSubtype="4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4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7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0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3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9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3" dur="500"/>
                                  <p:tgtEl>
                                    <p:spTgt spid="2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Machine Intelligence in Industry?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intelligence uses data, AI and automation to help industrial systems perceive conditions, understand patterns and take better actions.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2461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40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7F5EE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2918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cameras, PLCs and machines collect physical-world data.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986784" y="3131820"/>
            <a:ext cx="265176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4251960" y="306781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4840" y="1965960"/>
            <a:ext cx="32461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240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AF2FD"/>
          </a:solidFill>
          <a:ln w="15875">
            <a:solidFill>
              <a:srgbClr val="0B5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09160" y="28803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09160" y="32918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models detect patterns, anomalies and predictions.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35824" y="3131820"/>
            <a:ext cx="265176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8001000" y="306781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9" name="Shape 17"/>
          <p:cNvSpPr/>
          <p:nvPr/>
        </p:nvSpPr>
        <p:spPr>
          <a:xfrm>
            <a:off x="8183880" y="1965960"/>
            <a:ext cx="32461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58200" y="2240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0ECFA"/>
          </a:solidFill>
          <a:ln w="15875">
            <a:solidFill>
              <a:srgbClr val="6B4F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4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58200" y="28803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58200" y="32918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systems, operators and robots respond to AI insights.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" y="4709160"/>
            <a:ext cx="10817352" cy="868680"/>
          </a:xfrm>
          <a:prstGeom prst="roundRect">
            <a:avLst>
              <a:gd name="adj" fmla="val 947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470916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AI  =  Sensing  +  Connectivity  +  Intelligence  +  Action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Intelligence Meets Industry  |  AI – Flipped Classroom  |  Marwadi University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" dur="450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" dur="450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" dur="500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7" dur="600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0" dur="600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3" dur="600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6" dur="600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9" dur="600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3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6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0" dur="500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3" dur="500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6" dur="500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9" dur="500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2" dur="500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6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7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9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3" dur="500"/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6" dur="500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9" dur="500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2" dur="500"/>
                                  <p:tgtEl>
                                    <p:spTgt spid="2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5" dur="500"/>
                                  <p:tgtEl>
                                    <p:spTgt spid="2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9" dur="500"/>
                                  <p:tgtEl>
                                    <p:spTgt spid="2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2" dur="500"/>
                                  <p:tgtEl>
                                    <p:spTgt spid="2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4-Layer Industrial AI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physical world to business decisions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463040" y="132588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WORLD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463040" y="1783080"/>
            <a:ext cx="9235440" cy="896112"/>
          </a:xfrm>
          <a:prstGeom prst="roundRect">
            <a:avLst>
              <a:gd name="adj" fmla="val 9184"/>
            </a:avLst>
          </a:prstGeom>
          <a:solidFill>
            <a:srgbClr val="E7F5EE"/>
          </a:solidFill>
          <a:ln w="15875">
            <a:solidFill>
              <a:srgbClr val="1E8E5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64208" y="208483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E8E5A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1874520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/ SENSOR LAYER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172200" y="1874520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· Pressure · Vibration · Images · Position · Machine status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2697480"/>
            <a:ext cx="0" cy="36576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6016752" y="2734056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2" name="Shape 10"/>
          <p:cNvSpPr/>
          <p:nvPr/>
        </p:nvSpPr>
        <p:spPr>
          <a:xfrm>
            <a:off x="1463040" y="2880360"/>
            <a:ext cx="9235440" cy="896112"/>
          </a:xfrm>
          <a:prstGeom prst="roundRect">
            <a:avLst>
              <a:gd name="adj" fmla="val 9184"/>
            </a:avLst>
          </a:prstGeom>
          <a:solidFill>
            <a:srgbClr val="EAF2FD"/>
          </a:solidFill>
          <a:ln w="15875">
            <a:solidFill>
              <a:srgbClr val="0B5FBF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64208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B5FBF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2971800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/ CONTROL LAYER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172200" y="2971800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· PLC · RTU · HMI · Industrial control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3794760"/>
            <a:ext cx="0" cy="36576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0800000">
            <a:off x="6016752" y="3831336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8" name="Shape 16"/>
          <p:cNvSpPr/>
          <p:nvPr/>
        </p:nvSpPr>
        <p:spPr>
          <a:xfrm>
            <a:off x="1463040" y="3977640"/>
            <a:ext cx="9235440" cy="896112"/>
          </a:xfrm>
          <a:prstGeom prst="roundRect">
            <a:avLst>
              <a:gd name="adj" fmla="val 9184"/>
            </a:avLst>
          </a:prstGeom>
          <a:solidFill>
            <a:srgbClr val="F0ECFA"/>
          </a:solidFill>
          <a:ln w="15875">
            <a:solidFill>
              <a:srgbClr val="6B4FBB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664208" y="42793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B4FBB"/>
          </a:solidFill>
          <a:ln/>
        </p:spPr>
      </p:sp>
      <p:sp>
        <p:nvSpPr>
          <p:cNvPr id="20" name="Text 18"/>
          <p:cNvSpPr/>
          <p:nvPr/>
        </p:nvSpPr>
        <p:spPr>
          <a:xfrm>
            <a:off x="2103120" y="4069080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EXECUTION LAYER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172200" y="4069080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· Quality · Scheduling · OEE · Traceability · Downtime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4892040"/>
            <a:ext cx="0" cy="36576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016752" y="4928616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24" name="Shape 22"/>
          <p:cNvSpPr/>
          <p:nvPr/>
        </p:nvSpPr>
        <p:spPr>
          <a:xfrm>
            <a:off x="1463040" y="5074920"/>
            <a:ext cx="9235440" cy="896112"/>
          </a:xfrm>
          <a:prstGeom prst="roundRect">
            <a:avLst>
              <a:gd name="adj" fmla="val 9184"/>
            </a:avLst>
          </a:prstGeom>
          <a:solidFill>
            <a:srgbClr val="FBF0E1"/>
          </a:solidFill>
          <a:ln w="15875">
            <a:solidFill>
              <a:srgbClr val="C97A1E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64208" y="537667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C97A1E"/>
          </a:solidFill>
          <a:ln/>
        </p:spPr>
      </p:sp>
      <p:sp>
        <p:nvSpPr>
          <p:cNvPr id="26" name="Text 24"/>
          <p:cNvSpPr/>
          <p:nvPr/>
        </p:nvSpPr>
        <p:spPr>
          <a:xfrm>
            <a:off x="2103120" y="5166360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LAYER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172200" y="5166360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· KPIs · Forecasting · Analytics · Business decisions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63040" y="6062472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Intelligence Meets Industry  |  AI – Flipped Classroom  |  Marwadi University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" dur="450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" dur="450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" dur="500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7" dur="600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1" dur="500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4" dur="500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7" dur="500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0" dur="500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4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7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1" dur="500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4" dur="500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7" dur="500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0" dur="500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4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7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1" dur="500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4" dur="500"/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7" dur="500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0" dur="500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4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7" dur="4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1" dur="500"/>
                                  <p:tgtEl>
                                    <p:spTgt spid="2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4" dur="500"/>
                                  <p:tgtEl>
                                    <p:spTgt spid="2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7" dur="500"/>
                                  <p:tgtEl>
                                    <p:spTgt spid="2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0" dur="500"/>
                                  <p:tgtEl>
                                    <p:spTgt spid="2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3" dur="500"/>
                                  <p:tgtEl>
                                    <p:spTgt spid="2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· FIELD / SENSOR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Observing the Physical Process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industrial AI system starts by observing the physical process.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481328" cy="777240"/>
          </a:xfrm>
          <a:prstGeom prst="roundRect">
            <a:avLst>
              <a:gd name="adj" fmla="val 10588"/>
            </a:avLst>
          </a:prstGeom>
          <a:solidFill>
            <a:srgbClr val="E7F5EE"/>
          </a:solidFill>
          <a:ln w="12700">
            <a:solidFill>
              <a:srgbClr val="1E8E5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783080"/>
            <a:ext cx="1335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0" y="1783080"/>
            <a:ext cx="1481328" cy="777240"/>
          </a:xfrm>
          <a:prstGeom prst="roundRect">
            <a:avLst>
              <a:gd name="adj" fmla="val 10588"/>
            </a:avLst>
          </a:prstGeom>
          <a:solidFill>
            <a:srgbClr val="E7F5EE"/>
          </a:solidFill>
          <a:ln w="12700">
            <a:solidFill>
              <a:srgbClr val="1E8E5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59152" y="1783080"/>
            <a:ext cx="1335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86200" y="1783080"/>
            <a:ext cx="1481328" cy="777240"/>
          </a:xfrm>
          <a:prstGeom prst="roundRect">
            <a:avLst>
              <a:gd name="adj" fmla="val 10588"/>
            </a:avLst>
          </a:prstGeom>
          <a:solidFill>
            <a:srgbClr val="E7F5EE"/>
          </a:solidFill>
          <a:ln w="12700">
            <a:solidFill>
              <a:srgbClr val="1E8E5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59352" y="1783080"/>
            <a:ext cx="1335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0" y="1783080"/>
            <a:ext cx="1481328" cy="777240"/>
          </a:xfrm>
          <a:prstGeom prst="roundRect">
            <a:avLst>
              <a:gd name="adj" fmla="val 10588"/>
            </a:avLst>
          </a:prstGeom>
          <a:solidFill>
            <a:srgbClr val="E7F5EE"/>
          </a:solidFill>
          <a:ln w="12700">
            <a:solidFill>
              <a:srgbClr val="1E8E5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59552" y="1783080"/>
            <a:ext cx="1335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/ Vision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86600" y="1783080"/>
            <a:ext cx="1481328" cy="777240"/>
          </a:xfrm>
          <a:prstGeom prst="roundRect">
            <a:avLst>
              <a:gd name="adj" fmla="val 10588"/>
            </a:avLst>
          </a:prstGeom>
          <a:solidFill>
            <a:srgbClr val="E7F5EE"/>
          </a:solidFill>
          <a:ln w="12700">
            <a:solidFill>
              <a:srgbClr val="1E8E5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59752" y="1783080"/>
            <a:ext cx="1335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/ Barcode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0" y="1783080"/>
            <a:ext cx="1481328" cy="777240"/>
          </a:xfrm>
          <a:prstGeom prst="roundRect">
            <a:avLst>
              <a:gd name="adj" fmla="val 10588"/>
            </a:avLst>
          </a:prstGeom>
          <a:solidFill>
            <a:srgbClr val="E7F5EE"/>
          </a:solidFill>
          <a:ln w="12700">
            <a:solidFill>
              <a:srgbClr val="1E8E5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59952" y="1783080"/>
            <a:ext cx="1335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287000" y="1783080"/>
            <a:ext cx="1481328" cy="777240"/>
          </a:xfrm>
          <a:prstGeom prst="roundRect">
            <a:avLst>
              <a:gd name="adj" fmla="val 10588"/>
            </a:avLst>
          </a:prstGeom>
          <a:solidFill>
            <a:srgbClr val="E7F5EE"/>
          </a:solidFill>
          <a:ln w="12700">
            <a:solidFill>
              <a:srgbClr val="1E8E5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360152" y="1783080"/>
            <a:ext cx="1335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920240" y="2606040"/>
            <a:ext cx="0" cy="374904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1856232" y="2980944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15468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EAF2FD"/>
          </a:solidFill>
          <a:ln w="12700">
            <a:solidFill>
              <a:srgbClr val="0B5FBF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32186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4747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· Time-series · Images · Video · Events · Location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3584448"/>
            <a:ext cx="374904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5400000">
            <a:off x="3621024" y="3520440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26" name="Shape 24"/>
          <p:cNvSpPr/>
          <p:nvPr/>
        </p:nvSpPr>
        <p:spPr>
          <a:xfrm>
            <a:off x="3840480" y="3154680"/>
            <a:ext cx="3291840" cy="868680"/>
          </a:xfrm>
          <a:prstGeom prst="roundRect">
            <a:avLst>
              <a:gd name="adj" fmla="val 947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023360" y="32278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OPPORTUNITY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23360" y="349300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abnormal patterns before they become failures.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06640" y="3154680"/>
            <a:ext cx="41148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89520" y="32186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589520" y="345643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motor's vibration gradually increases → AI identifies possible bearing degradation.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Intelligence Meets Industry  |  AI – Flipped Classroom  |  Marwadi University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" dur="450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" dur="450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" dur="500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7" dur="600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0" dur="600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4" dur="500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7" dur="500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1" dur="500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4" dur="500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8" dur="500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1" dur="500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5" dur="500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8" dur="500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2" dur="500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5" dur="500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9" dur="500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2" dur="500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6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9" dur="4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3" dur="500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6" dur="500"/>
                                  <p:tgtEl>
                                    <p:spTgt spid="2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9" dur="500"/>
                                  <p:tgtEl>
                                    <p:spTgt spid="2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3" dur="45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4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6" dur="45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0" dur="500"/>
                                  <p:tgtEl>
                                    <p:spTgt spid="2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3" dur="500"/>
                                  <p:tgtEl>
                                    <p:spTgt spid="2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6" dur="500"/>
                                  <p:tgtEl>
                                    <p:spTgt spid="2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0" dur="500"/>
                                  <p:tgtEl>
                                    <p:spTgt spid="2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3" dur="500"/>
                                  <p:tgtEl>
                                    <p:spTgt spid="3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6" dur="500"/>
                                  <p:tgtEl>
                                    <p:spTgt spid="3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SCADA /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Supervisory Control and Data Acquisition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stands for Supervisory Control and Data Acquisition.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1907438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18159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20670" y="2400300"/>
            <a:ext cx="13716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5400000">
            <a:off x="2757830" y="233629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9" name="Shape 7"/>
          <p:cNvSpPr/>
          <p:nvPr/>
        </p:nvSpPr>
        <p:spPr>
          <a:xfrm>
            <a:off x="2913278" y="1965960"/>
            <a:ext cx="1907438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58998" y="1965960"/>
            <a:ext cx="18159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/ RTU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8149" y="2400300"/>
            <a:ext cx="13716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4985309" y="233629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3" name="Shape 11"/>
          <p:cNvSpPr/>
          <p:nvPr/>
        </p:nvSpPr>
        <p:spPr>
          <a:xfrm>
            <a:off x="5140757" y="1965960"/>
            <a:ext cx="1907438" cy="868680"/>
          </a:xfrm>
          <a:prstGeom prst="roundRect">
            <a:avLst>
              <a:gd name="adj" fmla="val 9474"/>
            </a:avLst>
          </a:prstGeom>
          <a:solidFill>
            <a:srgbClr val="EAF2FD"/>
          </a:solidFill>
          <a:ln w="19050">
            <a:solidFill>
              <a:srgbClr val="0B5FBF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86477" y="1965960"/>
            <a:ext cx="18159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75627" y="2400300"/>
            <a:ext cx="13716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7212787" y="233629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7" name="Shape 15"/>
          <p:cNvSpPr/>
          <p:nvPr/>
        </p:nvSpPr>
        <p:spPr>
          <a:xfrm>
            <a:off x="7368235" y="1965960"/>
            <a:ext cx="1907438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13955" y="1965960"/>
            <a:ext cx="18159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/ AI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03106" y="2400300"/>
            <a:ext cx="13716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5400000">
            <a:off x="9440266" y="233629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21" name="Shape 19"/>
          <p:cNvSpPr/>
          <p:nvPr/>
        </p:nvSpPr>
        <p:spPr>
          <a:xfrm>
            <a:off x="9595714" y="1965960"/>
            <a:ext cx="1907438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41434" y="1965960"/>
            <a:ext cx="18159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CAPABILITIES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3657600"/>
            <a:ext cx="2514600" cy="594360"/>
          </a:xfrm>
          <a:prstGeom prst="roundRect">
            <a:avLst>
              <a:gd name="adj" fmla="val 13846"/>
            </a:avLst>
          </a:prstGeom>
          <a:solidFill>
            <a:srgbClr val="EAF2FD"/>
          </a:solidFill>
          <a:ln w="12700">
            <a:solidFill>
              <a:srgbClr val="0B5FBF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36576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10712" y="3657600"/>
            <a:ext cx="2514600" cy="594360"/>
          </a:xfrm>
          <a:prstGeom prst="roundRect">
            <a:avLst>
              <a:gd name="adj" fmla="val 13846"/>
            </a:avLst>
          </a:prstGeom>
          <a:solidFill>
            <a:srgbClr val="EAF2FD"/>
          </a:solidFill>
          <a:ln w="12700">
            <a:solidFill>
              <a:srgbClr val="0B5FBF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502152" y="36576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dashboards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35624" y="3657600"/>
            <a:ext cx="2514600" cy="594360"/>
          </a:xfrm>
          <a:prstGeom prst="roundRect">
            <a:avLst>
              <a:gd name="adj" fmla="val 13846"/>
            </a:avLst>
          </a:prstGeom>
          <a:solidFill>
            <a:srgbClr val="EAF2FD"/>
          </a:solidFill>
          <a:ln w="12700">
            <a:solidFill>
              <a:srgbClr val="0B5FBF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27064" y="36576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860536" y="3657600"/>
            <a:ext cx="2514600" cy="594360"/>
          </a:xfrm>
          <a:prstGeom prst="roundRect">
            <a:avLst>
              <a:gd name="adj" fmla="val 13846"/>
            </a:avLst>
          </a:prstGeom>
          <a:solidFill>
            <a:srgbClr val="EAF2FD"/>
          </a:solidFill>
          <a:ln w="12700">
            <a:solidFill>
              <a:srgbClr val="0B5FBF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951976" y="36576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ADDS VALUE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5800" y="4937760"/>
            <a:ext cx="251460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7240" y="49377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anomalies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10712" y="4937760"/>
            <a:ext cx="251460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502152" y="49377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unsafe conditions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35624" y="4937760"/>
            <a:ext cx="251460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227064" y="49377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settings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860536" y="4937760"/>
            <a:ext cx="251460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951976" y="49377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operators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Intelligence Meets Industry  |  AI – Flipped Classroom  |  Marwadi University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" dur="450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" dur="450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" dur="500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7" dur="600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0" dur="600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1" dur="500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4" dur="500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8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9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5" dur="500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8" dur="500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2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5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9" dur="500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2" dur="500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6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9" dur="4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3" dur="500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6" dur="500"/>
                                  <p:tgtEl>
                                    <p:spTgt spid="2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9" dur="500"/>
                                  <p:tgtEl>
                                    <p:spTgt spid="2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3" dur="500"/>
                                  <p:tgtEl>
                                    <p:spTgt spid="2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6" dur="500"/>
                                  <p:tgtEl>
                                    <p:spTgt spid="2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0" dur="500"/>
                                  <p:tgtEl>
                                    <p:spTgt spid="2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3" dur="500"/>
                                  <p:tgtEl>
                                    <p:spTgt spid="2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7" dur="500"/>
                                  <p:tgtEl>
                                    <p:spTgt spid="2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0" dur="500"/>
                                  <p:tgtEl>
                                    <p:spTgt spid="2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4" dur="500"/>
                                  <p:tgtEl>
                                    <p:spTgt spid="3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7" dur="500"/>
                                  <p:tgtEl>
                                    <p:spTgt spid="3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10" dur="500"/>
                                  <p:tgtEl>
                                    <p:spTgt spid="3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14" dur="500"/>
                                  <p:tgtEl>
                                    <p:spTgt spid="3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17" dur="500"/>
                                  <p:tgtEl>
                                    <p:spTgt spid="3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21" dur="500"/>
                                  <p:tgtEl>
                                    <p:spTgt spid="3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24" dur="500"/>
                                  <p:tgtEl>
                                    <p:spTgt spid="3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28" dur="500"/>
                                  <p:tgtEl>
                                    <p:spTgt spid="3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1" dur="500"/>
                                  <p:tgtEl>
                                    <p:spTgt spid="3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5" dur="500"/>
                                  <p:tgtEl>
                                    <p:spTgt spid="3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8" dur="500"/>
                                  <p:tgtEl>
                                    <p:spTgt spid="4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Execution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is the bridge between shop-floor operations and higher-level business systems.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783080"/>
            <a:ext cx="3520440" cy="384048"/>
          </a:xfrm>
          <a:prstGeom prst="rect">
            <a:avLst/>
          </a:prstGeom>
          <a:solidFill>
            <a:srgbClr val="F0ECF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3108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status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25696" y="17830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25696" y="1783080"/>
            <a:ext cx="3520440" cy="384048"/>
          </a:xfrm>
          <a:prstGeom prst="rect">
            <a:avLst/>
          </a:prstGeom>
          <a:solidFill>
            <a:srgbClr val="F0ECFA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78308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54296" y="2286000"/>
            <a:ext cx="3108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parameters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65592" y="17830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65592" y="1783080"/>
            <a:ext cx="3520440" cy="384048"/>
          </a:xfrm>
          <a:prstGeom prst="rect">
            <a:avLst/>
          </a:prstGeom>
          <a:solidFill>
            <a:srgbClr val="EAF2FD"/>
          </a:solidFill>
          <a:ln/>
        </p:spPr>
      </p:sp>
      <p:sp>
        <p:nvSpPr>
          <p:cNvPr id="15" name="Text 13"/>
          <p:cNvSpPr/>
          <p:nvPr/>
        </p:nvSpPr>
        <p:spPr>
          <a:xfrm>
            <a:off x="8348472" y="178308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94192" y="2286000"/>
            <a:ext cx="3108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downtime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defects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schedules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process drift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4160520"/>
            <a:ext cx="10817352" cy="173736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57200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defect rates increase on one production line, MES data can help connect the problem to a machine, shift, material or process condition.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4709160"/>
            <a:ext cx="932688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4FBB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19672" y="4709160"/>
            <a:ext cx="8778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Rate ↑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443216" y="5120640"/>
            <a:ext cx="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7443216" y="505663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0" y="4709160"/>
            <a:ext cx="932688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4FBB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16952" y="4709160"/>
            <a:ext cx="8778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Data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540496" y="5120640"/>
            <a:ext cx="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5400000">
            <a:off x="8540496" y="505663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28" name="Shape 26"/>
          <p:cNvSpPr/>
          <p:nvPr/>
        </p:nvSpPr>
        <p:spPr>
          <a:xfrm>
            <a:off x="8686800" y="4709160"/>
            <a:ext cx="932688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4FBB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714232" y="4709160"/>
            <a:ext cx="8778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637776" y="5120640"/>
            <a:ext cx="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5400000">
            <a:off x="9637776" y="505663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32" name="Shape 30"/>
          <p:cNvSpPr/>
          <p:nvPr/>
        </p:nvSpPr>
        <p:spPr>
          <a:xfrm>
            <a:off x="9784080" y="4709160"/>
            <a:ext cx="932688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4FBB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811512" y="4709160"/>
            <a:ext cx="8778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0735056" y="5120640"/>
            <a:ext cx="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5400000">
            <a:off x="10735056" y="505663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36" name="Shape 34"/>
          <p:cNvSpPr/>
          <p:nvPr/>
        </p:nvSpPr>
        <p:spPr>
          <a:xfrm>
            <a:off x="10881360" y="4709160"/>
            <a:ext cx="932688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4FBB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908792" y="4709160"/>
            <a:ext cx="8778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Intelligence Meets Industry  |  AI – Flipped Classroom  |  Marwadi University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" dur="450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" dur="450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" dur="500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7" dur="600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0" dur="600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3" dur="600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6" dur="600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0" dur="500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3" dur="500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6" dur="500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9" dur="500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3" dur="500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6" dur="500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9" dur="500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2" dur="500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6" dur="500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9" dur="500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2" dur="500"/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6" dur="500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9" dur="500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3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4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6" dur="4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0" dur="500"/>
                                  <p:tgtEl>
                                    <p:spTgt spid="2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3" dur="500"/>
                                  <p:tgtEl>
                                    <p:spTgt spid="2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7" dur="45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0" dur="45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4" dur="500"/>
                                  <p:tgtEl>
                                    <p:spTgt spid="2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7" dur="500"/>
                                  <p:tgtEl>
                                    <p:spTgt spid="2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45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2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4" dur="45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8" dur="500"/>
                                  <p:tgtEl>
                                    <p:spTgt spid="3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11" dur="500"/>
                                  <p:tgtEl>
                                    <p:spTgt spid="3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5" dur="45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6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8" dur="45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22" dur="500"/>
                                  <p:tgtEl>
                                    <p:spTgt spid="3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25" dur="500"/>
                                  <p:tgtEl>
                                    <p:spTgt spid="3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BUSINESS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Data Into Decisions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converts industrial data into measurable business outcomes.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2331720" cy="777240"/>
          </a:xfrm>
          <a:prstGeom prst="roundRect">
            <a:avLst>
              <a:gd name="adj" fmla="val 10588"/>
            </a:avLst>
          </a:prstGeom>
          <a:solidFill>
            <a:srgbClr val="FBF0E1"/>
          </a:solidFill>
          <a:ln w="12700">
            <a:solidFill>
              <a:srgbClr val="C97A1E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9544" y="2171700"/>
            <a:ext cx="173736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5400000">
            <a:off x="3383280" y="210769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1783080"/>
            <a:ext cx="2331720" cy="777240"/>
          </a:xfrm>
          <a:prstGeom prst="roundRect">
            <a:avLst>
              <a:gd name="adj" fmla="val 10588"/>
            </a:avLst>
          </a:prstGeom>
          <a:solidFill>
            <a:srgbClr val="FBF0E1"/>
          </a:solidFill>
          <a:ln w="12700">
            <a:solidFill>
              <a:srgbClr val="C97A1E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7830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52744" y="2171700"/>
            <a:ext cx="173736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6126480" y="210769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783080"/>
            <a:ext cx="2331720" cy="777240"/>
          </a:xfrm>
          <a:prstGeom prst="roundRect">
            <a:avLst>
              <a:gd name="adj" fmla="val 10588"/>
            </a:avLst>
          </a:prstGeom>
          <a:solidFill>
            <a:srgbClr val="FBF0E1"/>
          </a:solidFill>
          <a:ln w="12700">
            <a:solidFill>
              <a:srgbClr val="C97A1E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7830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FORECAST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95944" y="2171700"/>
            <a:ext cx="173736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8869680" y="210769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7" name="Shape 15"/>
          <p:cNvSpPr/>
          <p:nvPr/>
        </p:nvSpPr>
        <p:spPr>
          <a:xfrm>
            <a:off x="9052560" y="1783080"/>
            <a:ext cx="2331720" cy="777240"/>
          </a:xfrm>
          <a:prstGeom prst="roundRect">
            <a:avLst>
              <a:gd name="adj" fmla="val 10588"/>
            </a:avLst>
          </a:prstGeom>
          <a:solidFill>
            <a:srgbClr val="FBF0E1"/>
          </a:solidFill>
          <a:ln w="12700">
            <a:solidFill>
              <a:srgbClr val="C97A1E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52560" y="17830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28803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3246120"/>
            <a:ext cx="324612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24612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51960" y="3246120"/>
            <a:ext cx="324612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61688" y="324612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80960" y="3246120"/>
            <a:ext cx="324612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90688" y="324612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/ unit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3794760"/>
            <a:ext cx="324612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379476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cost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51960" y="3794760"/>
            <a:ext cx="324612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61688" y="379476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rate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80960" y="3794760"/>
            <a:ext cx="324612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90688" y="379476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4526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FORECASTING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22960" y="4846320"/>
            <a:ext cx="1993392" cy="502920"/>
          </a:xfrm>
          <a:prstGeom prst="roundRect">
            <a:avLst>
              <a:gd name="adj" fmla="val 16364"/>
            </a:avLst>
          </a:prstGeom>
          <a:solidFill>
            <a:srgbClr val="EAF2FD"/>
          </a:solidFill>
          <a:ln w="12700">
            <a:solidFill>
              <a:srgbClr val="0B5F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484632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971800" y="4846320"/>
            <a:ext cx="1993392" cy="502920"/>
          </a:xfrm>
          <a:prstGeom prst="roundRect">
            <a:avLst>
              <a:gd name="adj" fmla="val 16364"/>
            </a:avLst>
          </a:prstGeom>
          <a:solidFill>
            <a:srgbClr val="EAF2FD"/>
          </a:solidFill>
          <a:ln w="12700">
            <a:solidFill>
              <a:srgbClr val="0B5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44952" y="484632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probability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120640" y="4846320"/>
            <a:ext cx="1993392" cy="502920"/>
          </a:xfrm>
          <a:prstGeom prst="roundRect">
            <a:avLst>
              <a:gd name="adj" fmla="val 16364"/>
            </a:avLst>
          </a:prstGeom>
          <a:solidFill>
            <a:srgbClr val="EAF2FD"/>
          </a:solidFill>
          <a:ln w="12700">
            <a:solidFill>
              <a:srgbClr val="0B5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93792" y="484632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risk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269480" y="4846320"/>
            <a:ext cx="1993392" cy="502920"/>
          </a:xfrm>
          <a:prstGeom prst="roundRect">
            <a:avLst>
              <a:gd name="adj" fmla="val 16364"/>
            </a:avLst>
          </a:prstGeom>
          <a:solidFill>
            <a:srgbClr val="EAF2FD"/>
          </a:solidFill>
          <a:ln w="12700">
            <a:solidFill>
              <a:srgbClr val="0B5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42632" y="484632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demand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418320" y="4846320"/>
            <a:ext cx="1993392" cy="502920"/>
          </a:xfrm>
          <a:prstGeom prst="roundRect">
            <a:avLst>
              <a:gd name="adj" fmla="val 16364"/>
            </a:avLst>
          </a:prstGeom>
          <a:solidFill>
            <a:srgbClr val="EAF2FD"/>
          </a:solidFill>
          <a:ln w="12700">
            <a:solidFill>
              <a:srgbClr val="0B5F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91472" y="484632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capacity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2960" y="5577840"/>
            <a:ext cx="10607040" cy="594360"/>
          </a:xfrm>
          <a:prstGeom prst="roundRect">
            <a:avLst>
              <a:gd name="adj" fmla="val 1384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22960" y="55778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not more data — it is better decisions.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Intelligence Meets Industry  |  AI – Flipped Classroom  |  Marwadi University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" dur="450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" dur="450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" dur="500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7" dur="600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0" dur="600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1" dur="500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4" dur="500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8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9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5" dur="500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8" dur="500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2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5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9" dur="500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2" dur="500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5" dur="500"/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9" dur="500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2" dur="500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6" dur="500"/>
                                  <p:tgtEl>
                                    <p:spTgt spid="2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9" dur="500"/>
                                  <p:tgtEl>
                                    <p:spTgt spid="2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3" dur="500"/>
                                  <p:tgtEl>
                                    <p:spTgt spid="2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6" dur="500"/>
                                  <p:tgtEl>
                                    <p:spTgt spid="2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0" dur="500"/>
                                  <p:tgtEl>
                                    <p:spTgt spid="2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3" dur="500"/>
                                  <p:tgtEl>
                                    <p:spTgt spid="2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7" dur="500"/>
                                  <p:tgtEl>
                                    <p:spTgt spid="2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0" dur="500"/>
                                  <p:tgtEl>
                                    <p:spTgt spid="2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4" dur="500"/>
                                  <p:tgtEl>
                                    <p:spTgt spid="3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7" dur="500"/>
                                  <p:tgtEl>
                                    <p:spTgt spid="3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10" dur="500"/>
                                  <p:tgtEl>
                                    <p:spTgt spid="3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14" dur="500"/>
                                  <p:tgtEl>
                                    <p:spTgt spid="3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17" dur="500"/>
                                  <p:tgtEl>
                                    <p:spTgt spid="3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21" dur="500"/>
                                  <p:tgtEl>
                                    <p:spTgt spid="3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24" dur="500"/>
                                  <p:tgtEl>
                                    <p:spTgt spid="3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28" dur="500"/>
                                  <p:tgtEl>
                                    <p:spTgt spid="3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1" dur="500"/>
                                  <p:tgtEl>
                                    <p:spTgt spid="3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5" dur="500"/>
                                  <p:tgtEl>
                                    <p:spTgt spid="3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8" dur="500"/>
                                  <p:tgtEl>
                                    <p:spTgt spid="4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42" dur="500"/>
                                  <p:tgtEl>
                                    <p:spTgt spid="4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4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45" dur="500"/>
                                  <p:tgtEl>
                                    <p:spTgt spid="4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49" dur="500"/>
                                  <p:tgtEl>
                                    <p:spTgt spid="4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5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52" dur="500"/>
                                  <p:tgtEl>
                                    <p:spTgt spid="4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Industrial AI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vibration reading, traced all the way to a business decision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1706880" cy="1417320"/>
          </a:xfrm>
          <a:prstGeom prst="roundRect">
            <a:avLst>
              <a:gd name="adj" fmla="val 5806"/>
            </a:avLst>
          </a:prstGeom>
          <a:solidFill>
            <a:srgbClr val="E7F5EE"/>
          </a:solidFill>
          <a:ln w="12700">
            <a:solidFill>
              <a:srgbClr val="1E8E5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2148840"/>
            <a:ext cx="1560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76072" y="2788920"/>
            <a:ext cx="1560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increases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28088" y="2720340"/>
            <a:ext cx="36576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5400000">
            <a:off x="2264664" y="265633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0" name="Shape 8"/>
          <p:cNvSpPr/>
          <p:nvPr/>
        </p:nvSpPr>
        <p:spPr>
          <a:xfrm>
            <a:off x="2410968" y="2011680"/>
            <a:ext cx="1706880" cy="1417320"/>
          </a:xfrm>
          <a:prstGeom prst="roundRect">
            <a:avLst>
              <a:gd name="adj" fmla="val 5806"/>
            </a:avLst>
          </a:prstGeom>
          <a:solidFill>
            <a:srgbClr val="EAF2FD"/>
          </a:solidFill>
          <a:ln w="12700">
            <a:solidFill>
              <a:srgbClr val="0B5FBF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84120" y="2148840"/>
            <a:ext cx="1560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84120" y="2788920"/>
            <a:ext cx="1560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+ live trend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36136" y="2720340"/>
            <a:ext cx="36576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4172712" y="265633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5" name="Shape 13"/>
          <p:cNvSpPr/>
          <p:nvPr/>
        </p:nvSpPr>
        <p:spPr>
          <a:xfrm>
            <a:off x="4319016" y="2011680"/>
            <a:ext cx="1706880" cy="1417320"/>
          </a:xfrm>
          <a:prstGeom prst="roundRect">
            <a:avLst>
              <a:gd name="adj" fmla="val 5806"/>
            </a:avLst>
          </a:prstGeom>
          <a:solidFill>
            <a:srgbClr val="EAF2FD"/>
          </a:solidFill>
          <a:ln w="12700">
            <a:solidFill>
              <a:srgbClr val="0B5FBF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92168" y="2148840"/>
            <a:ext cx="1560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392168" y="2788920"/>
            <a:ext cx="1560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probability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44184" y="2720340"/>
            <a:ext cx="36576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6080760" y="265633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20" name="Shape 18"/>
          <p:cNvSpPr/>
          <p:nvPr/>
        </p:nvSpPr>
        <p:spPr>
          <a:xfrm>
            <a:off x="6227064" y="2011680"/>
            <a:ext cx="1706880" cy="1417320"/>
          </a:xfrm>
          <a:prstGeom prst="roundRect">
            <a:avLst>
              <a:gd name="adj" fmla="val 5806"/>
            </a:avLst>
          </a:prstGeom>
          <a:solidFill>
            <a:srgbClr val="F0ECFA"/>
          </a:solidFill>
          <a:ln w="12700">
            <a:solidFill>
              <a:srgbClr val="6B4FBB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0216" y="2148840"/>
            <a:ext cx="1560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00216" y="2788920"/>
            <a:ext cx="1560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task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952232" y="2720340"/>
            <a:ext cx="36576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5400000">
            <a:off x="7988808" y="265633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25" name="Shape 23"/>
          <p:cNvSpPr/>
          <p:nvPr/>
        </p:nvSpPr>
        <p:spPr>
          <a:xfrm>
            <a:off x="8135112" y="2011680"/>
            <a:ext cx="1706880" cy="1417320"/>
          </a:xfrm>
          <a:prstGeom prst="roundRect">
            <a:avLst>
              <a:gd name="adj" fmla="val 5806"/>
            </a:avLst>
          </a:prstGeom>
          <a:solidFill>
            <a:srgbClr val="FBF0E1"/>
          </a:solidFill>
          <a:ln w="12700">
            <a:solidFill>
              <a:srgbClr val="C97A1E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08264" y="2148840"/>
            <a:ext cx="1560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08264" y="2788920"/>
            <a:ext cx="1560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downtime impact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860280" y="2720340"/>
            <a:ext cx="36576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5400000">
            <a:off x="9896856" y="265633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43160" y="2011680"/>
            <a:ext cx="1706880" cy="1417320"/>
          </a:xfrm>
          <a:prstGeom prst="roundRect">
            <a:avLst>
              <a:gd name="adj" fmla="val 5806"/>
            </a:avLst>
          </a:prstGeom>
          <a:solidFill>
            <a:srgbClr val="F7F8F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116312" y="2148840"/>
            <a:ext cx="1560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116312" y="2788920"/>
            <a:ext cx="1560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maintenance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0" y="397764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560320" y="39776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010912" y="4320540"/>
            <a:ext cx="18288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5400000">
            <a:off x="5193792" y="425653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37" name="Shape 35"/>
          <p:cNvSpPr/>
          <p:nvPr/>
        </p:nvSpPr>
        <p:spPr>
          <a:xfrm>
            <a:off x="5394960" y="397764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394960" y="39776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845552" y="4320540"/>
            <a:ext cx="18288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5400000">
            <a:off x="8028432" y="425653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41" name="Shape 39"/>
          <p:cNvSpPr/>
          <p:nvPr/>
        </p:nvSpPr>
        <p:spPr>
          <a:xfrm>
            <a:off x="8229600" y="397764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229600" y="39776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" y="4892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a continuous feedback loop — each cycle makes the next prediction better.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Intelligence Meets Industry  |  AI – Flipped Classroom  |  Marwadi University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" dur="450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" dur="450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" dur="500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7" dur="600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0" dur="600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3" dur="600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4" dur="500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7" dur="500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0" dur="500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4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7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1" dur="500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4" dur="500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7" dur="500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2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4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8" dur="500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1" dur="500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4" dur="500"/>
                                  <p:tgtEl>
                                    <p:spTgt spid="2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8" dur="4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45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5" dur="500"/>
                                  <p:tgtEl>
                                    <p:spTgt spid="2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8" dur="500"/>
                                  <p:tgtEl>
                                    <p:spTgt spid="2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1" dur="500"/>
                                  <p:tgtEl>
                                    <p:spTgt spid="2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5" dur="45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6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8" dur="45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2" dur="500"/>
                                  <p:tgtEl>
                                    <p:spTgt spid="3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5" dur="500"/>
                                  <p:tgtEl>
                                    <p:spTgt spid="3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8" dur="500"/>
                                  <p:tgtEl>
                                    <p:spTgt spid="3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12" dur="500"/>
                                  <p:tgtEl>
                                    <p:spTgt spid="3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15" dur="500"/>
                                  <p:tgtEl>
                                    <p:spTgt spid="3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9" dur="45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0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2" dur="45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26" dur="500"/>
                                  <p:tgtEl>
                                    <p:spTgt spid="3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29" dur="500"/>
                                  <p:tgtEl>
                                    <p:spTgt spid="3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3" dur="45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4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6" dur="45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40" dur="500"/>
                                  <p:tgtEl>
                                    <p:spTgt spid="4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4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43" dur="500"/>
                                  <p:tgtEl>
                                    <p:spTgt spid="4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46" dur="500"/>
                                  <p:tgtEl>
                                    <p:spTgt spid="4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failures before they happen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31089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downtime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670048"/>
            <a:ext cx="31089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7004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repairs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236976"/>
            <a:ext cx="31089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3697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risks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803904"/>
            <a:ext cx="31089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039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Spare-parts delays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60520" y="1783080"/>
            <a:ext cx="1828800" cy="1234440"/>
          </a:xfrm>
          <a:prstGeom prst="roundRect">
            <a:avLst>
              <a:gd name="adj" fmla="val 6667"/>
            </a:avLst>
          </a:prstGeom>
          <a:solidFill>
            <a:srgbClr val="E7F5EE"/>
          </a:solidFill>
          <a:ln w="12700">
            <a:solidFill>
              <a:srgbClr val="1E8E5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51960" y="18928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51960" y="240487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· Temp · Current · Load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07608" y="2400300"/>
            <a:ext cx="18288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6025896" y="233629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1783080"/>
            <a:ext cx="1828800" cy="1234440"/>
          </a:xfrm>
          <a:prstGeom prst="roundRect">
            <a:avLst>
              <a:gd name="adj" fmla="val 6667"/>
            </a:avLst>
          </a:prstGeom>
          <a:solidFill>
            <a:srgbClr val="EAF2FD"/>
          </a:solidFill>
          <a:ln w="12700">
            <a:solidFill>
              <a:srgbClr val="0B5FBF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18928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63640" y="240487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&amp; anomaly detection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19288" y="2400300"/>
            <a:ext cx="18288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8037576" y="233629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24" name="Shape 22"/>
          <p:cNvSpPr/>
          <p:nvPr/>
        </p:nvSpPr>
        <p:spPr>
          <a:xfrm>
            <a:off x="8183880" y="1783080"/>
            <a:ext cx="1828800" cy="1234440"/>
          </a:xfrm>
          <a:prstGeom prst="roundRect">
            <a:avLst>
              <a:gd name="adj" fmla="val 6667"/>
            </a:avLst>
          </a:prstGeom>
          <a:solidFill>
            <a:srgbClr val="F0ECFA"/>
          </a:solidFill>
          <a:ln w="12700">
            <a:solidFill>
              <a:srgbClr val="6B4FBB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75320" y="18928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Prediction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75320" y="240487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over time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030968" y="2400300"/>
            <a:ext cx="18288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5400000">
            <a:off x="10049256" y="233629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95560" y="1783080"/>
            <a:ext cx="1828800" cy="1234440"/>
          </a:xfrm>
          <a:prstGeom prst="roundRect">
            <a:avLst>
              <a:gd name="adj" fmla="val 6667"/>
            </a:avLst>
          </a:prstGeom>
          <a:solidFill>
            <a:srgbClr val="FBF0E1"/>
          </a:solidFill>
          <a:ln w="12700">
            <a:solidFill>
              <a:srgbClr val="C97A1E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287000" y="18928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287000" y="240487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before breakdown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60520" y="33375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BENEFITS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160520" y="3703320"/>
            <a:ext cx="3200400" cy="457200"/>
          </a:xfrm>
          <a:prstGeom prst="roundRect">
            <a:avLst>
              <a:gd name="adj" fmla="val 18000"/>
            </a:avLst>
          </a:prstGeom>
          <a:solidFill>
            <a:srgbClr val="EAF2FD"/>
          </a:solidFill>
          <a:ln w="12700">
            <a:solidFill>
              <a:srgbClr val="0B5F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70248" y="3703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unplanned downtime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543800" y="3703320"/>
            <a:ext cx="3200400" cy="457200"/>
          </a:xfrm>
          <a:prstGeom prst="roundRect">
            <a:avLst>
              <a:gd name="adj" fmla="val 18000"/>
            </a:avLst>
          </a:prstGeom>
          <a:solidFill>
            <a:srgbClr val="EAF2FD"/>
          </a:solidFill>
          <a:ln w="12700">
            <a:solidFill>
              <a:srgbClr val="0B5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53528" y="3703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maintenance planning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160520" y="4297680"/>
            <a:ext cx="3200400" cy="457200"/>
          </a:xfrm>
          <a:prstGeom prst="roundRect">
            <a:avLst>
              <a:gd name="adj" fmla="val 18000"/>
            </a:avLst>
          </a:prstGeom>
          <a:solidFill>
            <a:srgbClr val="EAF2FD"/>
          </a:solidFill>
          <a:ln w="12700">
            <a:solidFill>
              <a:srgbClr val="0B5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70248" y="4297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asset life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543800" y="4297680"/>
            <a:ext cx="3200400" cy="457200"/>
          </a:xfrm>
          <a:prstGeom prst="roundRect">
            <a:avLst>
              <a:gd name="adj" fmla="val 18000"/>
            </a:avLst>
          </a:prstGeom>
          <a:solidFill>
            <a:srgbClr val="EAF2FD"/>
          </a:solidFill>
          <a:ln w="12700">
            <a:solidFill>
              <a:srgbClr val="0B5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53528" y="4297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maintenance cost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Intelligence Meets Industry  |  AI – Flipped Classroom  |  Marwadi University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" dur="450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" dur="450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" dur="500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7" dur="600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1" dur="500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4" dur="500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8" dur="500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1" dur="500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5" dur="500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8" dur="500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2" dur="500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5" dur="500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9" dur="500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2" dur="500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5" dur="500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9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2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6" dur="500"/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9" dur="500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2" dur="500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6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7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9" dur="4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3" dur="500"/>
                                  <p:tgtEl>
                                    <p:spTgt spid="2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6" dur="500"/>
                                  <p:tgtEl>
                                    <p:spTgt spid="2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9" dur="500"/>
                                  <p:tgtEl>
                                    <p:spTgt spid="2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3" dur="45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6" dur="45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0" dur="500"/>
                                  <p:tgtEl>
                                    <p:spTgt spid="2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3" dur="500"/>
                                  <p:tgtEl>
                                    <p:spTgt spid="3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6" dur="500"/>
                                  <p:tgtEl>
                                    <p:spTgt spid="3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9" dur="500"/>
                                  <p:tgtEl>
                                    <p:spTgt spid="3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13" dur="500"/>
                                  <p:tgtEl>
                                    <p:spTgt spid="3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16" dur="500"/>
                                  <p:tgtEl>
                                    <p:spTgt spid="3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20" dur="500"/>
                                  <p:tgtEl>
                                    <p:spTgt spid="3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23" dur="500"/>
                                  <p:tgtEl>
                                    <p:spTgt spid="3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27" dur="500"/>
                                  <p:tgtEl>
                                    <p:spTgt spid="3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0" dur="500"/>
                                  <p:tgtEl>
                                    <p:spTgt spid="3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4" dur="500"/>
                                  <p:tgtEl>
                                    <p:spTgt spid="3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7" dur="500"/>
                                  <p:tgtEl>
                                    <p:spTgt spid="4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Inspection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for industrial quality inspection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722120" cy="1051560"/>
          </a:xfrm>
          <a:prstGeom prst="roundRect">
            <a:avLst>
              <a:gd name="adj" fmla="val 7826"/>
            </a:avLst>
          </a:prstGeom>
          <a:solidFill>
            <a:srgbClr val="EAF2FD"/>
          </a:solidFill>
          <a:ln w="12700">
            <a:solidFill>
              <a:srgbClr val="0B5FBF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57784" y="1874520"/>
            <a:ext cx="16123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43328" y="2400300"/>
            <a:ext cx="18288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5400000">
            <a:off x="2261616" y="233629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9" name="Shape 7"/>
          <p:cNvSpPr/>
          <p:nvPr/>
        </p:nvSpPr>
        <p:spPr>
          <a:xfrm>
            <a:off x="2407920" y="1874520"/>
            <a:ext cx="17221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0B5FBF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2784" y="1874520"/>
            <a:ext cx="16123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48328" y="2400300"/>
            <a:ext cx="18288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4166616" y="233629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3" name="Shape 11"/>
          <p:cNvSpPr/>
          <p:nvPr/>
        </p:nvSpPr>
        <p:spPr>
          <a:xfrm>
            <a:off x="4312920" y="1874520"/>
            <a:ext cx="1722120" cy="1051560"/>
          </a:xfrm>
          <a:prstGeom prst="roundRect">
            <a:avLst>
              <a:gd name="adj" fmla="val 7826"/>
            </a:avLst>
          </a:prstGeom>
          <a:solidFill>
            <a:srgbClr val="EAF2FD"/>
          </a:solidFill>
          <a:ln w="12700">
            <a:solidFill>
              <a:srgbClr val="0B5FBF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67784" y="1874520"/>
            <a:ext cx="16123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53328" y="2400300"/>
            <a:ext cx="18288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6071616" y="233629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1874520"/>
            <a:ext cx="17221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0B5FBF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72784" y="1874520"/>
            <a:ext cx="16123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58328" y="2400300"/>
            <a:ext cx="18288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5400000">
            <a:off x="7976616" y="233629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21" name="Shape 19"/>
          <p:cNvSpPr/>
          <p:nvPr/>
        </p:nvSpPr>
        <p:spPr>
          <a:xfrm>
            <a:off x="8122920" y="1874520"/>
            <a:ext cx="1722120" cy="1051560"/>
          </a:xfrm>
          <a:prstGeom prst="roundRect">
            <a:avLst>
              <a:gd name="adj" fmla="val 7826"/>
            </a:avLst>
          </a:prstGeom>
          <a:solidFill>
            <a:srgbClr val="EAF2FD"/>
          </a:solidFill>
          <a:ln w="12700">
            <a:solidFill>
              <a:srgbClr val="0B5FBF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77784" y="1874520"/>
            <a:ext cx="16123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REJECT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863328" y="2400300"/>
            <a:ext cx="18288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5400000">
            <a:off x="9881616" y="233629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27920" y="1874520"/>
            <a:ext cx="17221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0B5FBF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082784" y="1874520"/>
            <a:ext cx="16123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5800" y="32918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DEFECTS DETECTED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3657600"/>
            <a:ext cx="1993392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36576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843784" y="3657600"/>
            <a:ext cx="1993392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16936" y="36576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components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01768" y="3657600"/>
            <a:ext cx="1993392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36576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assembly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159752" y="3657600"/>
            <a:ext cx="1993392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32904" y="36576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defects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317736" y="3657600"/>
            <a:ext cx="1993392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90888" y="36576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problems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5800" y="4526280"/>
            <a:ext cx="10817352" cy="1051560"/>
          </a:xfrm>
          <a:prstGeom prst="roundRect">
            <a:avLst>
              <a:gd name="adj" fmla="val 7826"/>
            </a:avLst>
          </a:prstGeom>
          <a:solidFill>
            <a:srgbClr val="F7F8FA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14400" y="452628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inspect products consistently and at production-line speed — and defect data can help identify root causes.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Intelligence Meets Industry  |  AI – Flipped Classroom  |  Marwadi University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" dur="450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" dur="450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" dur="500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7" dur="600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0" dur="600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1" dur="500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4" dur="500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8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9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5" dur="500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8" dur="500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2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5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9" dur="500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2" dur="500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6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9" dur="4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3" dur="500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6" dur="500"/>
                                  <p:tgtEl>
                                    <p:spTgt spid="2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0" dur="4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1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3" dur="45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7" dur="500"/>
                                  <p:tgtEl>
                                    <p:spTgt spid="2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0" dur="500"/>
                                  <p:tgtEl>
                                    <p:spTgt spid="2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3" dur="500"/>
                                  <p:tgtEl>
                                    <p:spTgt spid="2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7" dur="500"/>
                                  <p:tgtEl>
                                    <p:spTgt spid="2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0" dur="500"/>
                                  <p:tgtEl>
                                    <p:spTgt spid="2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4" dur="500"/>
                                  <p:tgtEl>
                                    <p:spTgt spid="3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7" dur="500"/>
                                  <p:tgtEl>
                                    <p:spTgt spid="3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11" dur="500"/>
                                  <p:tgtEl>
                                    <p:spTgt spid="3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14" dur="500"/>
                                  <p:tgtEl>
                                    <p:spTgt spid="3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18" dur="500"/>
                                  <p:tgtEl>
                                    <p:spTgt spid="3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21" dur="500"/>
                                  <p:tgtEl>
                                    <p:spTgt spid="3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25" dur="500"/>
                                  <p:tgtEl>
                                    <p:spTgt spid="3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28" dur="500"/>
                                  <p:tgtEl>
                                    <p:spTgt spid="3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2" dur="500"/>
                                  <p:tgtEl>
                                    <p:spTgt spid="3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5" dur="500"/>
                                  <p:tgtEl>
                                    <p:spTgt spid="3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&amp; Automation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fixed automation to adaptive, AI-powered robotics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16636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783080"/>
            <a:ext cx="5166360" cy="38404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AUTOMATION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rules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positions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environment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65760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tasks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5166360" cy="2514600"/>
          </a:xfrm>
          <a:prstGeom prst="roundRect">
            <a:avLst>
              <a:gd name="adj" fmla="val 3273"/>
            </a:avLst>
          </a:prstGeom>
          <a:solidFill>
            <a:srgbClr val="EAF2FD"/>
          </a:solidFill>
          <a:ln w="12700">
            <a:solidFill>
              <a:srgbClr val="0B5FBF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783080"/>
            <a:ext cx="5166360" cy="384048"/>
          </a:xfrm>
          <a:prstGeom prst="rect">
            <a:avLst/>
          </a:prstGeom>
          <a:solidFill>
            <a:srgbClr val="0B5FBF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78308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ROBOTICS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22860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267004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3054096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planning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3438144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382219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behaviour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07024" y="3040380"/>
            <a:ext cx="219456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5400000">
            <a:off x="6126480" y="297637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4846320"/>
            <a:ext cx="1993392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484632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picking robots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43784" y="4846320"/>
            <a:ext cx="1993392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16936" y="484632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mobile robots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01768" y="4846320"/>
            <a:ext cx="1993392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484632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sorting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59752" y="4846320"/>
            <a:ext cx="1993392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32904" y="484632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Robot-assisted inspection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317736" y="4846320"/>
            <a:ext cx="1993392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90888" y="484632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robots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5800" y="5532120"/>
            <a:ext cx="10817352" cy="54864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5800" y="553212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makes automation more adaptive — not simply more automated.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Intelligence Meets Industry  |  AI – Flipped Classroom  |  Marwadi University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" dur="450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" dur="450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" dur="500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7" dur="600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0" dur="600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3" dur="600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6" dur="600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9" dur="600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2" dur="600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5" dur="600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9" dur="500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2" dur="500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5" dur="500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8" dur="500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1" dur="500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4" dur="500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7" dur="500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0" dur="500"/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4" dur="4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7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1" dur="500"/>
                                  <p:tgtEl>
                                    <p:spTgt spid="2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5" dur="500"/>
                                  <p:tgtEl>
                                    <p:spTgt spid="2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8" dur="500"/>
                                  <p:tgtEl>
                                    <p:spTgt spid="2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2" dur="500"/>
                                  <p:tgtEl>
                                    <p:spTgt spid="2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5" dur="500"/>
                                  <p:tgtEl>
                                    <p:spTgt spid="2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9" dur="500"/>
                                  <p:tgtEl>
                                    <p:spTgt spid="2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2" dur="500"/>
                                  <p:tgtEl>
                                    <p:spTgt spid="2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6" dur="500"/>
                                  <p:tgtEl>
                                    <p:spTgt spid="2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9" dur="500"/>
                                  <p:tgtEl>
                                    <p:spTgt spid="3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3" dur="500"/>
                                  <p:tgtEl>
                                    <p:spTgt spid="3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6" dur="500"/>
                                  <p:tgtEl>
                                    <p:spTgt spid="3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10" dur="500"/>
                                  <p:tgtEl>
                                    <p:spTgt spid="3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13" dur="500"/>
                                  <p:tgtEl>
                                    <p:spTgt spid="3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APPLICATIONS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Real-World Industrial AI Use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7F5EE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0574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Management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demand, detect waste and optimize equipment.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25696" y="18288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54296" y="20574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AF2FD"/>
          </a:solidFill>
          <a:ln w="15875">
            <a:solidFill>
              <a:srgbClr val="0B5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48656" y="20574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/ Logistics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54296" y="26974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prediction, inventory optimization and route planning.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65592" y="18288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20574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0ECFA"/>
          </a:solidFill>
          <a:ln w="15875">
            <a:solidFill>
              <a:srgbClr val="6B4F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4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88552" y="20574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Optimization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94192" y="26974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operating conditions that improve yield, speed and quality.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384048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06908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BF0E1"/>
          </a:solidFill>
          <a:ln w="15875">
            <a:solidFill>
              <a:srgbClr val="C97A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40690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14400" y="47091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imaging, decision support and resource optimization.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25696" y="384048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54296" y="406908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4F4F6"/>
          </a:solidFill>
          <a:ln w="15875">
            <a:solidFill>
              <a:srgbClr val="0E8A9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54296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48656" y="40690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54296" y="47091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monitoring, precision spraying and yield prediction.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65592" y="384048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4192" y="406908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7F8FA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94192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88552" y="40690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94192" y="47091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vision, predictive maintenance and autonomous systems.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Intelligence Meets Industry  |  AI – Flipped Classroom  |  Marwadi University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" dur="450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" dur="450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" dur="600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6" dur="600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9" dur="600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2" dur="600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5" dur="600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9" dur="500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2" dur="500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5" dur="500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8" dur="500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1" dur="500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5" dur="500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8" dur="500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1" dur="500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4" dur="500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7" dur="500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1" dur="500"/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4" dur="500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7" dur="500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0" dur="500"/>
                                  <p:tgtEl>
                                    <p:spTgt spid="2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3" dur="500"/>
                                  <p:tgtEl>
                                    <p:spTgt spid="2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7" dur="500"/>
                                  <p:tgtEl>
                                    <p:spTgt spid="2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0" dur="500"/>
                                  <p:tgtEl>
                                    <p:spTgt spid="2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3" dur="500"/>
                                  <p:tgtEl>
                                    <p:spTgt spid="2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6" dur="500"/>
                                  <p:tgtEl>
                                    <p:spTgt spid="2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9" dur="500"/>
                                  <p:tgtEl>
                                    <p:spTgt spid="2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3" dur="500"/>
                                  <p:tgtEl>
                                    <p:spTgt spid="2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6" dur="500"/>
                                  <p:tgtEl>
                                    <p:spTgt spid="3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9" dur="500"/>
                                  <p:tgtEl>
                                    <p:spTgt spid="3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2" dur="500"/>
                                  <p:tgtEl>
                                    <p:spTgt spid="3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5" dur="500"/>
                                  <p:tgtEl>
                                    <p:spTgt spid="3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Industrial AI Creates Business Value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20640" y="3200400"/>
            <a:ext cx="1920240" cy="1920240"/>
          </a:xfrm>
          <a:prstGeom prst="ellipse">
            <a:avLst/>
          </a:prstGeom>
          <a:solidFill>
            <a:srgbClr val="1B2A4A"/>
          </a:solidFill>
          <a:ln/>
          <a:effectLst>
            <a:outerShdw blurRad="127000" dist="38100" dir="5400000" algn="bl" rotWithShape="0">
              <a:srgbClr val="9AA5B1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20640" y="320040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069079" y="2655931"/>
            <a:ext cx="1277361" cy="773069"/>
          </a:xfrm>
          <a:prstGeom prst="line">
            <a:avLst/>
          </a:prstGeom>
          <a:noFill/>
          <a:ln w="19050">
            <a:solidFill>
              <a:srgbClr val="E2E5E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914400" y="1920240"/>
            <a:ext cx="3200400" cy="1234440"/>
          </a:xfrm>
          <a:prstGeom prst="roundRect">
            <a:avLst>
              <a:gd name="adj" fmla="val 6667"/>
            </a:avLst>
          </a:prstGeom>
          <a:solidFill>
            <a:srgbClr val="E7F5EE"/>
          </a:solidFill>
          <a:ln w="12700">
            <a:solidFill>
              <a:srgbClr val="1E8E5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06654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4688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downtime · Less waste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flipV="1">
            <a:off x="7040880" y="3173474"/>
            <a:ext cx="1051560" cy="633415"/>
          </a:xfrm>
          <a:prstGeom prst="line">
            <a:avLst/>
          </a:prstGeom>
          <a:noFill/>
          <a:ln w="19050">
            <a:solidFill>
              <a:srgbClr val="E2E5EA"/>
            </a:solidFill>
            <a:prstDash val="dash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Shape 9"/>
          <p:cNvSpPr/>
          <p:nvPr/>
        </p:nvSpPr>
        <p:spPr>
          <a:xfrm>
            <a:off x="8092440" y="1920240"/>
            <a:ext cx="3200400" cy="1234440"/>
          </a:xfrm>
          <a:prstGeom prst="roundRect">
            <a:avLst>
              <a:gd name="adj" fmla="val 6667"/>
            </a:avLst>
          </a:prstGeom>
          <a:solidFill>
            <a:srgbClr val="EAF2FD"/>
          </a:solidFill>
          <a:ln w="12700">
            <a:solidFill>
              <a:srgbClr val="0B5FBF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75320" y="206654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QUALITY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75320" y="24688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defects · Better consistency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V="1">
            <a:off x="4115604" y="4664560"/>
            <a:ext cx="1127230" cy="858416"/>
          </a:xfrm>
          <a:prstGeom prst="line">
            <a:avLst/>
          </a:prstGeom>
          <a:noFill/>
          <a:ln w="19050">
            <a:solidFill>
              <a:srgbClr val="E2E5E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914400" y="4892040"/>
            <a:ext cx="3200400" cy="1234440"/>
          </a:xfrm>
          <a:prstGeom prst="roundRect">
            <a:avLst>
              <a:gd name="adj" fmla="val 6667"/>
            </a:avLst>
          </a:prstGeom>
          <a:solidFill>
            <a:srgbClr val="F0ECFA"/>
          </a:solidFill>
          <a:ln w="12700">
            <a:solidFill>
              <a:srgbClr val="6B4FBB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97280" y="503834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SAFETY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5440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warnings · Safer operations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14480" y="4509188"/>
            <a:ext cx="1077960" cy="454698"/>
          </a:xfrm>
          <a:prstGeom prst="line">
            <a:avLst/>
          </a:prstGeom>
          <a:noFill/>
          <a:ln w="19050">
            <a:solidFill>
              <a:srgbClr val="E2E5E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092440" y="4892040"/>
            <a:ext cx="3200400" cy="1234440"/>
          </a:xfrm>
          <a:prstGeom prst="roundRect">
            <a:avLst>
              <a:gd name="adj" fmla="val 6667"/>
            </a:avLst>
          </a:prstGeom>
          <a:solidFill>
            <a:srgbClr val="FBF0E1"/>
          </a:solidFill>
          <a:ln w="12700">
            <a:solidFill>
              <a:srgbClr val="C97A1E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75320" y="503834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5440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· Forecasting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Intelligence Meets Industry  |  AI – Flipped Classroom  |  Marwadi University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" dur="450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" dur="450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" dur="600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6" dur="600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4" dur="500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7" dur="500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0" dur="500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4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8" dur="500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1" dur="500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4" dur="500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8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2" dur="500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5" dur="500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8" dur="500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2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6" dur="500"/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9" dur="500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2" dur="500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Responsible Industrial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56816"/>
            <a:ext cx="310896" cy="310896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568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8" dirty="0"/>
          </a:p>
        </p:txBody>
      </p:sp>
      <p:sp>
        <p:nvSpPr>
          <p:cNvPr id="7" name="Text 5"/>
          <p:cNvSpPr/>
          <p:nvPr/>
        </p:nvSpPr>
        <p:spPr>
          <a:xfrm>
            <a:off x="1344168" y="178308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66160" y="1783080"/>
            <a:ext cx="7662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sensor data can produce unreliable predictions.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532888"/>
            <a:ext cx="1081735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706624"/>
            <a:ext cx="310896" cy="310896"/>
          </a:xfrm>
          <a:prstGeom prst="ellipse">
            <a:avLst/>
          </a:prstGeom>
          <a:solidFill>
            <a:srgbClr val="0B5FBF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706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8" dirty="0"/>
          </a:p>
        </p:txBody>
      </p:sp>
      <p:sp>
        <p:nvSpPr>
          <p:cNvPr id="12" name="Text 10"/>
          <p:cNvSpPr/>
          <p:nvPr/>
        </p:nvSpPr>
        <p:spPr>
          <a:xfrm>
            <a:off x="1344168" y="2532888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66160" y="2532888"/>
            <a:ext cx="7662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industrial systems increase cybersecurity risks.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282696"/>
            <a:ext cx="1081735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3456432"/>
            <a:ext cx="310896" cy="310896"/>
          </a:xfrm>
          <a:prstGeom prst="ellipse">
            <a:avLst/>
          </a:prstGeom>
          <a:solidFill>
            <a:srgbClr val="6B4FBB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4564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1344168" y="3282696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566160" y="3282696"/>
            <a:ext cx="7662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should not bypass critical safety mechanisms.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032504"/>
            <a:ext cx="1081735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4206240"/>
            <a:ext cx="310896" cy="310896"/>
          </a:xfrm>
          <a:prstGeom prst="ellipse">
            <a:avLst/>
          </a:prstGeom>
          <a:solidFill>
            <a:srgbClr val="C97A1E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206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1344168" y="4032504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566160" y="4032504"/>
            <a:ext cx="7662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engineers should understand and supervise key decisions.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782312"/>
            <a:ext cx="1081735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4956048"/>
            <a:ext cx="310896" cy="310896"/>
          </a:xfrm>
          <a:prstGeom prst="ellipse">
            <a:avLst/>
          </a:prstGeom>
          <a:solidFill>
            <a:srgbClr val="0E8A9C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49560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88" dirty="0"/>
          </a:p>
        </p:txBody>
      </p:sp>
      <p:sp>
        <p:nvSpPr>
          <p:cNvPr id="27" name="Text 25"/>
          <p:cNvSpPr/>
          <p:nvPr/>
        </p:nvSpPr>
        <p:spPr>
          <a:xfrm>
            <a:off x="1344168" y="478231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566160" y="4782312"/>
            <a:ext cx="7662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must be monitored and validated.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5800" y="5623560"/>
            <a:ext cx="10817352" cy="594360"/>
          </a:xfrm>
          <a:prstGeom prst="roundRect">
            <a:avLst>
              <a:gd name="adj" fmla="val 1384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AI should be deployed as part of a safe, monitored socio-technical system.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Intelligence Meets Industry  |  AI – Flipped Classroom  |  Marwadi University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" dur="450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" dur="450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" dur="600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6" dur="600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9" dur="600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2" dur="600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5" dur="600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9" dur="500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2" dur="500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5" dur="500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8" dur="500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1" dur="500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5" dur="500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8" dur="500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1" dur="500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4" dur="500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7" dur="500"/>
                                  <p:tgtEl>
                                    <p:spTgt spid="1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1" dur="500"/>
                                  <p:tgtEl>
                                    <p:spTgt spid="1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4" dur="500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7" dur="500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0" dur="500"/>
                                  <p:tgtEl>
                                    <p:spTgt spid="2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3" dur="500"/>
                                  <p:tgtEl>
                                    <p:spTgt spid="2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7" dur="500"/>
                                  <p:tgtEl>
                                    <p:spTgt spid="2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0" dur="500"/>
                                  <p:tgtEl>
                                    <p:spTgt spid="2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3" dur="500"/>
                                  <p:tgtEl>
                                    <p:spTgt spid="2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6" dur="500"/>
                                  <p:tgtEl>
                                    <p:spTgt spid="2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9" dur="500"/>
                                  <p:tgtEl>
                                    <p:spTgt spid="2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3" dur="500"/>
                                  <p:tgtEl>
                                    <p:spTgt spid="2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6" dur="500"/>
                                  <p:tgtEl>
                                    <p:spTgt spid="3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2560320" cy="1920240"/>
          </a:xfrm>
          <a:prstGeom prst="roundRect">
            <a:avLst>
              <a:gd name="adj" fmla="val 4286"/>
            </a:avLst>
          </a:prstGeom>
          <a:solidFill>
            <a:srgbClr val="E7F5EE"/>
          </a:solidFill>
          <a:ln w="12700">
            <a:solidFill>
              <a:srgbClr val="1E8E5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404872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collect industrial data.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65576" y="1783080"/>
            <a:ext cx="2560320" cy="1920240"/>
          </a:xfrm>
          <a:prstGeom prst="roundRect">
            <a:avLst>
              <a:gd name="adj" fmla="val 4286"/>
            </a:avLst>
          </a:prstGeom>
          <a:solidFill>
            <a:srgbClr val="EAF2FD"/>
          </a:solidFill>
          <a:ln w="12700">
            <a:solidFill>
              <a:srgbClr val="0B5FBF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48456" y="1965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48456" y="2404872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and PLC systems monitor and control operations.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45352" y="1783080"/>
            <a:ext cx="2560320" cy="1920240"/>
          </a:xfrm>
          <a:prstGeom prst="roundRect">
            <a:avLst>
              <a:gd name="adj" fmla="val 4286"/>
            </a:avLst>
          </a:prstGeom>
          <a:solidFill>
            <a:srgbClr val="F0ECFA"/>
          </a:solidFill>
          <a:ln w="12700">
            <a:solidFill>
              <a:srgbClr val="6B4FBB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8232" y="1965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28232" y="2404872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coordinates production, quality and traceability.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25128" y="1783080"/>
            <a:ext cx="2560320" cy="1920240"/>
          </a:xfrm>
          <a:prstGeom prst="roundRect">
            <a:avLst>
              <a:gd name="adj" fmla="val 4286"/>
            </a:avLst>
          </a:prstGeom>
          <a:solidFill>
            <a:srgbClr val="FBF0E1"/>
          </a:solidFill>
          <a:ln w="12700">
            <a:solidFill>
              <a:srgbClr val="C97A1E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08008" y="1965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208008" y="2404872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+ AI converts data into predictions and business decisions.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411480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1148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163824" y="4457700"/>
            <a:ext cx="173736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3337560" y="439369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20" name="Shape 18"/>
          <p:cNvSpPr/>
          <p:nvPr/>
        </p:nvSpPr>
        <p:spPr>
          <a:xfrm>
            <a:off x="3520440" y="411480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20440" y="41148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61304" y="4457700"/>
            <a:ext cx="173736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6035040" y="439369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411480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41148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558784" y="4457700"/>
            <a:ext cx="173736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5400000">
            <a:off x="8732520" y="4393692"/>
            <a:ext cx="128016" cy="128016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28" name="Shape 26"/>
          <p:cNvSpPr/>
          <p:nvPr/>
        </p:nvSpPr>
        <p:spPr>
          <a:xfrm>
            <a:off x="8915400" y="411480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915400" y="41148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" y="5166360"/>
            <a:ext cx="10607040" cy="868680"/>
          </a:xfrm>
          <a:prstGeom prst="roundRect">
            <a:avLst>
              <a:gd name="adj" fmla="val 947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05840" y="516636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industrial AI use cases solve a real operational problem and measure the result.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Intelligence Meets Industry  |  AI – Flipped Classroom  |  Marwadi University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" dur="450"/>
                                  <p:tgtEl>
                                    <p:spTgt spid="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" dur="450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3" dur="600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6" dur="600"/>
                                  <p:tgtEl>
                                    <p:spTgt spid="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9" dur="600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3" dur="500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6" dur="500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29" dur="500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3" dur="500"/>
                                  <p:tgtEl>
                                    <p:spTgt spid="1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6" dur="500"/>
                                  <p:tgtEl>
                                    <p:spTgt spid="1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39" dur="500"/>
                                  <p:tgtEl>
                                    <p:spTgt spid="1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3" dur="500"/>
                                  <p:tgtEl>
                                    <p:spTgt spid="1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6" dur="500"/>
                                  <p:tgtEl>
                                    <p:spTgt spid="1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49" dur="500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3" dur="500"/>
                                  <p:tgtEl>
                                    <p:spTgt spid="1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56" dur="500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0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3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7" dur="500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70" dur="500"/>
                                  <p:tgtEl>
                                    <p:spTgt spid="2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4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7" dur="4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1" dur="500"/>
                                  <p:tgtEl>
                                    <p:spTgt spid="2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84" dur="500"/>
                                  <p:tgtEl>
                                    <p:spTgt spid="2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presetID="22" presetClass="entr" presetSubtype="4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8" dur="45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9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45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5" dur="500"/>
                                  <p:tgtEl>
                                    <p:spTgt spid="2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8" dur="500"/>
                                  <p:tgtEl>
                                    <p:spTgt spid="2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2" dur="500"/>
                                  <p:tgtEl>
                                    <p:spTgt spid="3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5" dur="500"/>
                                  <p:tgtEl>
                                    <p:spTgt spid="3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184648" y="3977640"/>
            <a:ext cx="1828800" cy="0"/>
          </a:xfrm>
          <a:prstGeom prst="line">
            <a:avLst/>
          </a:prstGeom>
          <a:noFill/>
          <a:ln w="19050">
            <a:solidFill>
              <a:srgbClr val="E2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206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Machine Intelligence Meets Industry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0" y="452628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Marwadi University  |  Department of Computer Engineering  |  Semester 5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6" dur="600"/>
                                  <p:tgtEl>
                                    <p:spTgt spid="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0" dur="500"/>
                                  <p:tgtEl>
                                    <p:spTgt spid="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4" dur="500"/>
                                  <p:tgtEl>
                                    <p:spTgt spid="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7" dur="500"/>
                                  <p:tgtEl>
                                    <p:spTgt spid="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1161</Words>
  <Application>Microsoft Office PowerPoint</Application>
  <PresentationFormat>Widescreen</PresentationFormat>
  <Paragraphs>315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Intelligence Meets Industry</dc:title>
  <dc:subject>PptxGenJS Presentation</dc:subject>
  <dc:creator>Marwadi University</dc:creator>
  <cp:lastModifiedBy>Yash Pujara</cp:lastModifiedBy>
  <cp:revision>2</cp:revision>
  <dcterms:created xsi:type="dcterms:W3CDTF">2026-08-10T23:41:46Z</dcterms:created>
  <dcterms:modified xsi:type="dcterms:W3CDTF">2026-08-10T23:56:03Z</dcterms:modified>
</cp:coreProperties>
</file>